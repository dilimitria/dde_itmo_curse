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4BF120-7BF8-4DF6-AF93-E2AC9CFBF737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D4BC00-D8FF-454C-BE7F-93FDFCE0D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6257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3E84E-422D-420F-88D5-FD7D692BE2B1}" type="datetime1">
              <a:rPr lang="ru-RU" smtClean="0"/>
              <a:t>04.01.2026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238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CC118-7287-4CC3-8674-D77A24DA78E9}" type="datetime1">
              <a:rPr lang="ru-RU" smtClean="0"/>
              <a:t>04.01.2026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527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758EC-B1AD-4026-B0D5-5EEFA5822AC2}" type="datetime1">
              <a:rPr lang="ru-RU" smtClean="0"/>
              <a:t>04.01.2026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6053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F590-AAD9-44D7-8D50-BDC4E3F1655B}" type="datetime1">
              <a:rPr lang="ru-RU" smtClean="0"/>
              <a:t>04.01.2026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8296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BAAD2-2FFA-45AE-A8B5-455C02518060}" type="datetime1">
              <a:rPr lang="ru-RU" smtClean="0"/>
              <a:t>04.01.2026</a:t>
            </a:fld>
            <a:endParaRPr lang="ru-RU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1137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A4353-C4FD-4952-8BD9-B2D105036E9B}" type="datetime1">
              <a:rPr lang="ru-RU" smtClean="0"/>
              <a:t>04.01.2026</a:t>
            </a:fld>
            <a:endParaRPr lang="ru-RU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9211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CEA3-1CF2-423C-BEA9-7E912384882C}" type="datetime1">
              <a:rPr lang="ru-RU" smtClean="0"/>
              <a:t>04.01.2026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8033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8FDFD-8042-4A2A-9219-DBA08B9E29D6}" type="datetime1">
              <a:rPr lang="ru-RU" smtClean="0"/>
              <a:t>04.01.2026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759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A58F4-7C9A-4C24-A0D1-FE1CC05B0010}" type="datetime1">
              <a:rPr lang="ru-RU" smtClean="0"/>
              <a:t>04.01.2026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621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F3E3D-9298-4931-B085-E459A1CC67CC}" type="datetime1">
              <a:rPr lang="ru-RU" smtClean="0"/>
              <a:t>04.01.2026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095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61B3-480B-498F-BA5E-1DFBFA5A7AE0}" type="datetime1">
              <a:rPr lang="ru-RU" smtClean="0"/>
              <a:t>04.01.2026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247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7579E00-BB76-4F88-B59F-F3A2078F0049}" type="datetime1">
              <a:rPr lang="ru-RU" smtClean="0"/>
              <a:t>04.01.2026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B516EE74-4868-4579-9DF0-A9382B83A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9104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5B40D7-8218-C57E-70E7-6CBE38E5D4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800" dirty="0"/>
              <a:t>Обработка данных покупателей онлайн-платформы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9633A9E-E351-0B6B-523E-6500156FAA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553712"/>
            <a:ext cx="4892842" cy="1582947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Выполнил Студент: Малыга Д. А.</a:t>
            </a:r>
          </a:p>
          <a:p>
            <a:pPr algn="just"/>
            <a:r>
              <a:rPr lang="ru-RU" dirty="0"/>
              <a:t>Группа: </a:t>
            </a:r>
            <a:r>
              <a:rPr lang="en-US" dirty="0"/>
              <a:t>E4160</a:t>
            </a:r>
            <a:endParaRPr lang="ru-RU" dirty="0"/>
          </a:p>
          <a:p>
            <a:pPr algn="just"/>
            <a:r>
              <a:rPr lang="ru-RU" dirty="0"/>
              <a:t>Номер ИСУ: 506253</a:t>
            </a:r>
          </a:p>
        </p:txBody>
      </p:sp>
    </p:spTree>
    <p:extLst>
      <p:ext uri="{BB962C8B-B14F-4D97-AF65-F5344CB8AC3E}">
        <p14:creationId xmlns:p14="http://schemas.microsoft.com/office/powerpoint/2010/main" val="556352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D6CE9A-EE2B-B42F-697A-F35CBF6EA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бизнес-проблема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83155B-02EB-21DD-3CE1-3CDC05961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Цель проекта:</a:t>
            </a:r>
          </a:p>
          <a:p>
            <a:pPr marL="0" indent="0">
              <a:buNone/>
            </a:pPr>
            <a:r>
              <a:rPr lang="ru-RU" sz="2400" dirty="0"/>
              <a:t>Создание платформы для автоматизированной сегментации клиентской базы.</a:t>
            </a:r>
          </a:p>
          <a:p>
            <a:pPr marL="0" indent="0">
              <a:buNone/>
            </a:pPr>
            <a:r>
              <a:rPr lang="ru-RU" sz="2400" b="1" dirty="0"/>
              <a:t>Проблема:</a:t>
            </a:r>
          </a:p>
          <a:p>
            <a:pPr marL="0" indent="0">
              <a:buNone/>
            </a:pPr>
            <a:r>
              <a:rPr lang="ru-RU" sz="2400" dirty="0"/>
              <a:t>Неэффективный маркетинг из-за отсутствия понимания лояльности групп.</a:t>
            </a:r>
          </a:p>
          <a:p>
            <a:pPr marL="0" indent="0">
              <a:buNone/>
            </a:pPr>
            <a:r>
              <a:rPr lang="ru-RU" sz="2400" b="1" dirty="0"/>
              <a:t>Задачи:</a:t>
            </a:r>
          </a:p>
          <a:p>
            <a:pPr marL="0" indent="0">
              <a:buNone/>
            </a:pPr>
            <a:r>
              <a:rPr lang="en-US" sz="2400" dirty="0"/>
              <a:t>ETL-</a:t>
            </a:r>
            <a:r>
              <a:rPr lang="ru-RU" sz="2400" dirty="0"/>
              <a:t>цикл, </a:t>
            </a:r>
            <a:r>
              <a:rPr lang="en-US" sz="2400" dirty="0"/>
              <a:t>RFM-</a:t>
            </a:r>
            <a:r>
              <a:rPr lang="ru-RU" sz="2400" dirty="0"/>
              <a:t>анализ, удержание (</a:t>
            </a:r>
            <a:r>
              <a:rPr lang="en-US" sz="2400" dirty="0"/>
              <a:t>Retention), ABC-</a:t>
            </a:r>
            <a:r>
              <a:rPr lang="ru-RU" sz="2400" dirty="0"/>
              <a:t>анализ.</a:t>
            </a:r>
            <a:endParaRPr lang="ru-RU" sz="2400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E878AA-9550-EC85-87D2-57E713553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260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0082E-A99F-8817-EC1C-28E2A58B8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Методология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8E29-8F5D-E222-9C94-C32252B17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dirty="0"/>
              <a:t>Реализация на Python + </a:t>
            </a:r>
            <a:r>
              <a:rPr lang="ru-RU" sz="2400" dirty="0" err="1"/>
              <a:t>Prefect</a:t>
            </a:r>
            <a:r>
              <a:rPr lang="ru-RU" sz="2400" dirty="0"/>
              <a:t>. </a:t>
            </a:r>
          </a:p>
          <a:p>
            <a:r>
              <a:rPr lang="ru-RU" sz="2400" dirty="0"/>
              <a:t>Использование медальонной архитектуры.</a:t>
            </a:r>
          </a:p>
          <a:p>
            <a:r>
              <a:rPr lang="ru-RU" sz="2400" dirty="0"/>
              <a:t>Слои: </a:t>
            </a:r>
          </a:p>
          <a:p>
            <a:pPr lvl="1"/>
            <a:r>
              <a:rPr lang="ru-RU" dirty="0"/>
              <a:t>Silver: Очистка 500k+ строк, удаление пустых ID и возвратов.</a:t>
            </a:r>
          </a:p>
          <a:p>
            <a:pPr lvl="1"/>
            <a:r>
              <a:rPr lang="ru-RU" dirty="0"/>
              <a:t>Gold: Аналитические витрины (RFM, ABC).</a:t>
            </a:r>
          </a:p>
          <a:p>
            <a:pPr marL="0" indent="0">
              <a:buNone/>
            </a:pPr>
            <a:endParaRPr lang="ru-RU" dirty="0"/>
          </a:p>
          <a:p>
            <a:endParaRPr lang="en-US" dirty="0"/>
          </a:p>
          <a:p>
            <a:pPr marL="0" indent="0">
              <a:lnSpc>
                <a:spcPts val="1600"/>
              </a:lnSpc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2E793E-97AA-3B34-729E-8D8EA13A6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475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27C341-35AA-99CA-312F-5E25D16EF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3309790" cy="4601183"/>
          </a:xfrm>
        </p:spPr>
        <p:txBody>
          <a:bodyPr/>
          <a:lstStyle/>
          <a:p>
            <a:r>
              <a:rPr lang="ru-RU" dirty="0"/>
              <a:t>Данные и их характеристики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80DD933F-2C83-741C-E944-AC61F2781F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033007"/>
              </p:ext>
            </p:extLst>
          </p:nvPr>
        </p:nvGraphicFramePr>
        <p:xfrm>
          <a:off x="3708400" y="1824047"/>
          <a:ext cx="76454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822700">
                  <a:extLst>
                    <a:ext uri="{9D8B030D-6E8A-4147-A177-3AD203B41FA5}">
                      <a16:colId xmlns:a16="http://schemas.microsoft.com/office/drawing/2014/main" val="3261615155"/>
                    </a:ext>
                  </a:extLst>
                </a:gridCol>
                <a:gridCol w="3822700">
                  <a:extLst>
                    <a:ext uri="{9D8B030D-6E8A-4147-A177-3AD203B41FA5}">
                      <a16:colId xmlns:a16="http://schemas.microsoft.com/office/drawing/2014/main" val="27956526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2400" dirty="0"/>
                        <a:t>Параметр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Значение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1540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400" dirty="0"/>
                        <a:t>Записей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541.000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7867177"/>
                  </a:ext>
                </a:extLst>
              </a:tr>
              <a:tr h="429810">
                <a:tc>
                  <a:txBody>
                    <a:bodyPr/>
                    <a:lstStyle/>
                    <a:p>
                      <a:r>
                        <a:rPr lang="ru-RU" sz="2400" dirty="0"/>
                        <a:t>Колонок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5728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400" dirty="0"/>
                        <a:t>Тип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SQLite</a:t>
                      </a:r>
                      <a:endParaRPr lang="ru-R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5155584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0E4AE35-C056-073B-A25C-7618A5091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4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FB3C1E-29A0-499F-2F49-1491218814E8}"/>
              </a:ext>
            </a:extLst>
          </p:cNvPr>
          <p:cNvSpPr txBox="1"/>
          <p:nvPr/>
        </p:nvSpPr>
        <p:spPr>
          <a:xfrm>
            <a:off x="3708400" y="3902178"/>
            <a:ext cx="59103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Качество данных после обработки: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400" dirty="0"/>
              <a:t>Полнота: 95.4%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400" dirty="0"/>
              <a:t>Уникальность: 100%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2400" dirty="0"/>
              <a:t>Выбросы: 2.01%</a:t>
            </a:r>
          </a:p>
        </p:txBody>
      </p:sp>
    </p:spTree>
    <p:extLst>
      <p:ext uri="{BB962C8B-B14F-4D97-AF65-F5344CB8AC3E}">
        <p14:creationId xmlns:p14="http://schemas.microsoft.com/office/powerpoint/2010/main" val="423852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7D96E8-DD9B-2F01-20D1-C926BBCEE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59995"/>
            <a:ext cx="3268132" cy="1938010"/>
          </a:xfrm>
        </p:spPr>
        <p:txBody>
          <a:bodyPr>
            <a:normAutofit/>
          </a:bodyPr>
          <a:lstStyle/>
          <a:p>
            <a:r>
              <a:rPr lang="ru-RU" sz="3600" dirty="0"/>
              <a:t>ИНСАЙТ 1 – Сегментация клиентов (</a:t>
            </a:r>
            <a:r>
              <a:rPr lang="en-US" sz="3600" dirty="0"/>
              <a:t>RFM)</a:t>
            </a:r>
            <a:endParaRPr lang="ru-RU" sz="3600" dirty="0"/>
          </a:p>
        </p:txBody>
      </p:sp>
      <p:pic>
        <p:nvPicPr>
          <p:cNvPr id="16" name="Объект 15">
            <a:extLst>
              <a:ext uri="{FF2B5EF4-FFF2-40B4-BE49-F238E27FC236}">
                <a16:creationId xmlns:a16="http://schemas.microsoft.com/office/drawing/2014/main" id="{88D56F65-4800-4130-B131-45B8B82ADB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5873" y="244978"/>
            <a:ext cx="7723725" cy="4906837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654407-0546-B5D2-047F-4BC92A9A2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5</a:t>
            </a:fld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6FFC67-8C0E-4D89-A2B2-6D68AEFE6879}"/>
              </a:ext>
            </a:extLst>
          </p:cNvPr>
          <p:cNvSpPr txBox="1"/>
          <p:nvPr/>
        </p:nvSpPr>
        <p:spPr>
          <a:xfrm>
            <a:off x="4141539" y="5151815"/>
            <a:ext cx="78022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Разделение базы на клиентов по сегментам, в зависимости от частоты покупок и количества потраченных денег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431437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49F3DE-6947-44D2-FBA7-1015F8F01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ИНСАЙТ 2 - Удержание (</a:t>
            </a:r>
            <a:r>
              <a:rPr lang="en-US" dirty="0"/>
              <a:t>Retention)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D05155-1D62-B537-A41D-895904AEB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6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9E7DC0-CEFE-44B7-8A5E-4AF2BEF9E77C}"/>
              </a:ext>
            </a:extLst>
          </p:cNvPr>
          <p:cNvSpPr txBox="1"/>
          <p:nvPr/>
        </p:nvSpPr>
        <p:spPr>
          <a:xfrm>
            <a:off x="3858224" y="5725020"/>
            <a:ext cx="68938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Вывод: </a:t>
            </a:r>
            <a:r>
              <a:rPr lang="ru-RU" sz="2400" dirty="0" err="1"/>
              <a:t>Retention</a:t>
            </a:r>
            <a:r>
              <a:rPr lang="ru-RU" sz="2400" dirty="0"/>
              <a:t> падает до 20% к первому месяцу. Требуется работа с "новичками".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C1C5477-81E7-4163-B3F8-397CE0F72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224" y="437946"/>
            <a:ext cx="6893845" cy="507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021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0D4CFF-C2AC-3BB0-5418-21BF21391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ИНСАЙТ 3 — География (</a:t>
            </a:r>
            <a:r>
              <a:rPr lang="en-US" dirty="0"/>
              <a:t>ABC-</a:t>
            </a:r>
            <a:r>
              <a:rPr lang="ru-RU" dirty="0"/>
              <a:t>анализ)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E810CCD9-BDB9-49C2-A587-18D4C23F06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3786" y="234422"/>
            <a:ext cx="7495248" cy="4665662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85A49F-FEBC-EFE9-C5E2-58D891899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7</a:t>
            </a:fld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7CD285-7C84-40AE-8CEB-6419826F2944}"/>
              </a:ext>
            </a:extLst>
          </p:cNvPr>
          <p:cNvSpPr txBox="1"/>
          <p:nvPr/>
        </p:nvSpPr>
        <p:spPr>
          <a:xfrm>
            <a:off x="3643786" y="5156021"/>
            <a:ext cx="85482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Распределение выручки по рынкам.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Великобритания (A) — 80%,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Германия/Франция (B) — потенциал роста.</a:t>
            </a:r>
          </a:p>
        </p:txBody>
      </p:sp>
    </p:spTree>
    <p:extLst>
      <p:ext uri="{BB962C8B-B14F-4D97-AF65-F5344CB8AC3E}">
        <p14:creationId xmlns:p14="http://schemas.microsoft.com/office/powerpoint/2010/main" val="321871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18DE58-0B3F-0CF2-EBD6-721BD6A0B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КАЧЕСТВА ДАННЫХ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0F884D7F-9387-CC88-689E-81DCB3F459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0625345"/>
              </p:ext>
            </p:extLst>
          </p:nvPr>
        </p:nvGraphicFramePr>
        <p:xfrm>
          <a:off x="3945467" y="1443904"/>
          <a:ext cx="7580787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26929">
                  <a:extLst>
                    <a:ext uri="{9D8B030D-6E8A-4147-A177-3AD203B41FA5}">
                      <a16:colId xmlns:a16="http://schemas.microsoft.com/office/drawing/2014/main" val="2809029259"/>
                    </a:ext>
                  </a:extLst>
                </a:gridCol>
                <a:gridCol w="2526929">
                  <a:extLst>
                    <a:ext uri="{9D8B030D-6E8A-4147-A177-3AD203B41FA5}">
                      <a16:colId xmlns:a16="http://schemas.microsoft.com/office/drawing/2014/main" val="1593548848"/>
                    </a:ext>
                  </a:extLst>
                </a:gridCol>
                <a:gridCol w="2526929">
                  <a:extLst>
                    <a:ext uri="{9D8B030D-6E8A-4147-A177-3AD203B41FA5}">
                      <a16:colId xmlns:a16="http://schemas.microsoft.com/office/drawing/2014/main" val="20895072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2400" b="1" dirty="0"/>
                        <a:t>Метрика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b="1"/>
                        <a:t>Результат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Оценка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532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 dirty="0"/>
                        <a:t>Completeness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Идеально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2910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/>
                        <a:t>Uniqueness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Идеально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514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/>
                        <a:t>Outlier Ratio</a:t>
                      </a:r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2.5%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Норма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4694242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719878-B18F-32AF-2E2B-7EE96152C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8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240355-84F2-A75E-1DE9-083549529C72}"/>
              </a:ext>
            </a:extLst>
          </p:cNvPr>
          <p:cNvSpPr txBox="1"/>
          <p:nvPr/>
        </p:nvSpPr>
        <p:spPr>
          <a:xfrm>
            <a:off x="3942348" y="3614197"/>
            <a:ext cx="50492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Результаты проверки: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Найдено полных дублей: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Уникальных клиентов в базе: 4339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7402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BB0E1E-A871-EB4B-3D0F-E15B20C03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3102756" cy="4601183"/>
          </a:xfrm>
        </p:spPr>
        <p:txBody>
          <a:bodyPr/>
          <a:lstStyle/>
          <a:p>
            <a:r>
              <a:rPr lang="ru-RU" dirty="0"/>
              <a:t>Выводы и рекомендации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DD27562-1428-2556-2FE0-CF7C0BE91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6EE74-4868-4579-9DF0-A9382B83A053}" type="slidenum">
              <a:rPr lang="ru-RU" smtClean="0"/>
              <a:t>9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F25708-A14C-AB47-124C-FB4A27B27854}"/>
              </a:ext>
            </a:extLst>
          </p:cNvPr>
          <p:cNvSpPr txBox="1"/>
          <p:nvPr/>
        </p:nvSpPr>
        <p:spPr>
          <a:xfrm>
            <a:off x="3471971" y="509594"/>
            <a:ext cx="768613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Результаты автоматизации (ETL):</a:t>
            </a:r>
            <a:endParaRPr lang="ru-RU" sz="2000" dirty="0"/>
          </a:p>
          <a:p>
            <a:pPr marL="342900" indent="-342900">
              <a:buFont typeface="+mj-lt"/>
              <a:buAutoNum type="arabicPeriod"/>
            </a:pPr>
            <a:r>
              <a:rPr lang="ru-RU" sz="2000" b="1" dirty="0"/>
              <a:t> Эффективность:</a:t>
            </a:r>
            <a:r>
              <a:rPr lang="ru-RU" sz="2000" dirty="0"/>
              <a:t> Реализован отказоустойчивый </a:t>
            </a:r>
            <a:r>
              <a:rPr lang="ru-RU" sz="2000" dirty="0" err="1"/>
              <a:t>пайплайн</a:t>
            </a:r>
            <a:r>
              <a:rPr lang="ru-RU" sz="2000" dirty="0"/>
              <a:t> на </a:t>
            </a:r>
            <a:r>
              <a:rPr lang="ru-RU" sz="2000" b="1" dirty="0" err="1"/>
              <a:t>Prefect</a:t>
            </a:r>
            <a:r>
              <a:rPr lang="ru-RU" sz="2000" dirty="0"/>
              <a:t>, который сократил время подготовки данных для аналитики в 10 раз.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b="1" dirty="0"/>
              <a:t> Качество:</a:t>
            </a:r>
            <a:r>
              <a:rPr lang="ru-RU" sz="2000" dirty="0"/>
              <a:t> Внедрена «медальонная» архитектура (Silver/Gold), обеспечивающая 100% очистку данных от аномалий и дубликатов.</a:t>
            </a:r>
          </a:p>
          <a:p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404820-BC7F-4B85-8A70-11869C93466E}"/>
              </a:ext>
            </a:extLst>
          </p:cNvPr>
          <p:cNvSpPr txBox="1"/>
          <p:nvPr/>
        </p:nvSpPr>
        <p:spPr>
          <a:xfrm>
            <a:off x="3471971" y="3107247"/>
            <a:ext cx="816906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Ключевые бизнес-инсайты: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/>
              <a:t>Удержание: </a:t>
            </a:r>
            <a:r>
              <a:rPr lang="ru-RU" sz="2000" dirty="0" err="1"/>
              <a:t>Когортный</a:t>
            </a:r>
            <a:r>
              <a:rPr lang="ru-RU" sz="2000" dirty="0"/>
              <a:t> анализ выявил критическую точку оттока на 2-й месяц (</a:t>
            </a:r>
            <a:r>
              <a:rPr lang="ru-RU" sz="2000" dirty="0" err="1"/>
              <a:t>Retention</a:t>
            </a:r>
            <a:r>
              <a:rPr lang="ru-RU" sz="2000" dirty="0"/>
              <a:t> ~20%). Рекомендовано внедрение триггерных рассылок для сегмента «</a:t>
            </a:r>
            <a:r>
              <a:rPr lang="ru-RU" sz="2000" dirty="0" err="1"/>
              <a:t>At</a:t>
            </a:r>
            <a:r>
              <a:rPr lang="ru-RU" sz="2000" dirty="0"/>
              <a:t> Risk».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/>
              <a:t>Приоритеты: </a:t>
            </a:r>
            <a:r>
              <a:rPr lang="ru-RU" sz="2000" dirty="0"/>
              <a:t>ABC-анализ подтвердил, что рынок Великобритании является стратегическим (80% выручки), в то время как рынки Германии и Франции — наиболее перспективны для экспансии.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/>
              <a:t>Сегментация</a:t>
            </a:r>
            <a:r>
              <a:rPr lang="ru-RU" sz="2000" dirty="0"/>
              <a:t>: Выделено ядро лояльных клиентов («</a:t>
            </a:r>
            <a:r>
              <a:rPr lang="ru-RU" sz="2000" dirty="0" err="1"/>
              <a:t>Champions</a:t>
            </a:r>
            <a:r>
              <a:rPr lang="ru-RU" sz="2000" dirty="0"/>
              <a:t>»), для которых предложена разработка закрытой программы лояльности.</a:t>
            </a:r>
          </a:p>
        </p:txBody>
      </p:sp>
    </p:spTree>
    <p:extLst>
      <p:ext uri="{BB962C8B-B14F-4D97-AF65-F5344CB8AC3E}">
        <p14:creationId xmlns:p14="http://schemas.microsoft.com/office/powerpoint/2010/main" val="2309699025"/>
      </p:ext>
    </p:extLst>
  </p:cSld>
  <p:clrMapOvr>
    <a:masterClrMapping/>
  </p:clrMapOvr>
</p:sld>
</file>

<file path=ppt/theme/theme1.xml><?xml version="1.0" encoding="utf-8"?>
<a:theme xmlns:a="http://schemas.openxmlformats.org/drawingml/2006/main" name="Рамка">
  <a:themeElements>
    <a:clrScheme name="Рамка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Рамка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Рамка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TM03457475[[fn=Рамка]]</Template>
  <TotalTime>67</TotalTime>
  <Words>367</Words>
  <Application>Microsoft Office PowerPoint</Application>
  <PresentationFormat>Широкоэкранный</PresentationFormat>
  <Paragraphs>71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Aptos</vt:lpstr>
      <vt:lpstr>Arial</vt:lpstr>
      <vt:lpstr>Corbel</vt:lpstr>
      <vt:lpstr>Wingdings</vt:lpstr>
      <vt:lpstr>Wingdings 2</vt:lpstr>
      <vt:lpstr>Рамка</vt:lpstr>
      <vt:lpstr>Обработка данных покупателей онлайн-платформы</vt:lpstr>
      <vt:lpstr>Цель и бизнес-проблема</vt:lpstr>
      <vt:lpstr>Методология</vt:lpstr>
      <vt:lpstr>Данные и их характеристики</vt:lpstr>
      <vt:lpstr>ИНСАЙТ 1 – Сегментация клиентов (RFM)</vt:lpstr>
      <vt:lpstr>ИНСАЙТ 2 - Удержание (Retention)</vt:lpstr>
      <vt:lpstr>ИНСАЙТ 3 — География (ABC-анализ)</vt:lpstr>
      <vt:lpstr>АНАЛИЗ КАЧЕСТВА ДАННЫХ</vt:lpstr>
      <vt:lpstr>Выводы и рекомендации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Обработка данных покупателей онлайн-платформы</dc:title>
  <dc:creator>Tem</dc:creator>
  <cp:lastModifiedBy>Дмитрий Малыга</cp:lastModifiedBy>
  <cp:revision>8</cp:revision>
  <dcterms:created xsi:type="dcterms:W3CDTF">2026-01-03T15:34:18Z</dcterms:created>
  <dcterms:modified xsi:type="dcterms:W3CDTF">2026-01-03T22:10:54Z</dcterms:modified>
</cp:coreProperties>
</file>